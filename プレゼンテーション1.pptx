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63" r:id="rId3"/>
    <p:sldId id="258" r:id="rId4"/>
    <p:sldId id="257" r:id="rId5"/>
    <p:sldId id="259" r:id="rId6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80" autoAdjust="0"/>
    <p:restoredTop sz="94660"/>
  </p:normalViewPr>
  <p:slideViewPr>
    <p:cSldViewPr snapToGrid="0">
      <p:cViewPr varScale="1">
        <p:scale>
          <a:sx n="64" d="100"/>
          <a:sy n="64" d="100"/>
        </p:scale>
        <p:origin x="2395" y="9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C22F19-12CE-45C6-887E-9932F43B7FB0}" type="datetimeFigureOut">
              <a:rPr kumimoji="1" lang="ja-JP" altLang="en-US" smtClean="0"/>
              <a:t>2026/5/10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555C44-AC8C-469F-B745-EB87E738517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49395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C22F19-12CE-45C6-887E-9932F43B7FB0}" type="datetimeFigureOut">
              <a:rPr kumimoji="1" lang="ja-JP" altLang="en-US" smtClean="0"/>
              <a:t>2026/5/10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555C44-AC8C-469F-B745-EB87E738517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005237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C22F19-12CE-45C6-887E-9932F43B7FB0}" type="datetimeFigureOut">
              <a:rPr kumimoji="1" lang="ja-JP" altLang="en-US" smtClean="0"/>
              <a:t>2026/5/10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555C44-AC8C-469F-B745-EB87E738517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583051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C22F19-12CE-45C6-887E-9932F43B7FB0}" type="datetimeFigureOut">
              <a:rPr kumimoji="1" lang="ja-JP" altLang="en-US" smtClean="0"/>
              <a:t>2026/5/10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555C44-AC8C-469F-B745-EB87E738517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94000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C22F19-12CE-45C6-887E-9932F43B7FB0}" type="datetimeFigureOut">
              <a:rPr kumimoji="1" lang="ja-JP" altLang="en-US" smtClean="0"/>
              <a:t>2026/5/10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555C44-AC8C-469F-B745-EB87E738517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963373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C22F19-12CE-45C6-887E-9932F43B7FB0}" type="datetimeFigureOut">
              <a:rPr kumimoji="1" lang="ja-JP" altLang="en-US" smtClean="0"/>
              <a:t>2026/5/10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555C44-AC8C-469F-B745-EB87E738517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988872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C22F19-12CE-45C6-887E-9932F43B7FB0}" type="datetimeFigureOut">
              <a:rPr kumimoji="1" lang="ja-JP" altLang="en-US" smtClean="0"/>
              <a:t>2026/5/10</a:t>
            </a:fld>
            <a:endParaRPr kumimoji="1"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555C44-AC8C-469F-B745-EB87E738517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220716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C22F19-12CE-45C6-887E-9932F43B7FB0}" type="datetimeFigureOut">
              <a:rPr kumimoji="1" lang="ja-JP" altLang="en-US" smtClean="0"/>
              <a:t>2026/5/10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555C44-AC8C-469F-B745-EB87E738517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004969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C22F19-12CE-45C6-887E-9932F43B7FB0}" type="datetimeFigureOut">
              <a:rPr kumimoji="1" lang="ja-JP" altLang="en-US" smtClean="0"/>
              <a:t>2026/5/10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555C44-AC8C-469F-B745-EB87E738517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953748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C22F19-12CE-45C6-887E-9932F43B7FB0}" type="datetimeFigureOut">
              <a:rPr kumimoji="1" lang="ja-JP" altLang="en-US" smtClean="0"/>
              <a:t>2026/5/10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555C44-AC8C-469F-B745-EB87E738517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471794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C22F19-12CE-45C6-887E-9932F43B7FB0}" type="datetimeFigureOut">
              <a:rPr kumimoji="1" lang="ja-JP" altLang="en-US" smtClean="0"/>
              <a:t>2026/5/10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555C44-AC8C-469F-B745-EB87E738517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192312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C22F19-12CE-45C6-887E-9932F43B7FB0}" type="datetimeFigureOut">
              <a:rPr kumimoji="1" lang="ja-JP" altLang="en-US" smtClean="0"/>
              <a:t>2026/5/10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555C44-AC8C-469F-B745-EB87E738517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128060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kumimoji="1"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kumimoji="1"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7DBA50E7-7D9F-19A4-3013-A1BA488A5012}"/>
              </a:ext>
            </a:extLst>
          </p:cNvPr>
          <p:cNvSpPr/>
          <p:nvPr/>
        </p:nvSpPr>
        <p:spPr>
          <a:xfrm>
            <a:off x="2770875" y="3751694"/>
            <a:ext cx="1316250" cy="91125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1013"/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35670C75-47DB-983C-DD64-D47583599940}"/>
              </a:ext>
            </a:extLst>
          </p:cNvPr>
          <p:cNvSpPr/>
          <p:nvPr/>
        </p:nvSpPr>
        <p:spPr>
          <a:xfrm>
            <a:off x="1373789" y="3751694"/>
            <a:ext cx="1316250" cy="91125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1013"/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9540D237-0BE4-258F-ABCC-46DA6D4BCA11}"/>
              </a:ext>
            </a:extLst>
          </p:cNvPr>
          <p:cNvSpPr/>
          <p:nvPr/>
        </p:nvSpPr>
        <p:spPr>
          <a:xfrm>
            <a:off x="4167961" y="3751694"/>
            <a:ext cx="1316250" cy="91125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1013" dirty="0"/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BE8F5671-4A8D-3B3B-3CEF-BF25DFBF9947}"/>
              </a:ext>
            </a:extLst>
          </p:cNvPr>
          <p:cNvSpPr/>
          <p:nvPr/>
        </p:nvSpPr>
        <p:spPr>
          <a:xfrm>
            <a:off x="3125250" y="3904606"/>
            <a:ext cx="607500" cy="445500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013" dirty="0"/>
              <a:t>Mac </a:t>
            </a:r>
            <a:endParaRPr lang="ja-JP" altLang="en-US" sz="1013" dirty="0"/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81C95B8E-EAE7-D1E2-EA6F-F57A9DD19AC8}"/>
              </a:ext>
            </a:extLst>
          </p:cNvPr>
          <p:cNvSpPr/>
          <p:nvPr/>
        </p:nvSpPr>
        <p:spPr>
          <a:xfrm rot="603751">
            <a:off x="4169998" y="4152125"/>
            <a:ext cx="425250" cy="6075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1013"/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2B86FF08-87CB-D990-FA92-1B650050B856}"/>
              </a:ext>
            </a:extLst>
          </p:cNvPr>
          <p:cNvSpPr/>
          <p:nvPr/>
        </p:nvSpPr>
        <p:spPr>
          <a:xfrm rot="603751">
            <a:off x="4613460" y="4273751"/>
            <a:ext cx="425250" cy="6075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1013" dirty="0"/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C8F39665-D882-485E-3940-8B50F3CBC996}"/>
              </a:ext>
            </a:extLst>
          </p:cNvPr>
          <p:cNvSpPr/>
          <p:nvPr/>
        </p:nvSpPr>
        <p:spPr>
          <a:xfrm rot="21382422">
            <a:off x="1779698" y="4256218"/>
            <a:ext cx="607500" cy="6075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1013"/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05B1AA52-4266-60BF-D1F1-C5F0494B5358}"/>
              </a:ext>
            </a:extLst>
          </p:cNvPr>
          <p:cNvSpPr/>
          <p:nvPr/>
        </p:nvSpPr>
        <p:spPr>
          <a:xfrm rot="603751">
            <a:off x="5049853" y="4386790"/>
            <a:ext cx="425250" cy="6075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1013" dirty="0"/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C1BE7236-5AEB-C9A5-5A88-EDFCF015CA18}"/>
              </a:ext>
            </a:extLst>
          </p:cNvPr>
          <p:cNvSpPr txBox="1"/>
          <p:nvPr/>
        </p:nvSpPr>
        <p:spPr>
          <a:xfrm>
            <a:off x="3920490" y="3405132"/>
            <a:ext cx="2111475" cy="2482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1013" dirty="0"/>
              <a:t>強み</a:t>
            </a:r>
            <a:r>
              <a:rPr lang="en-US" altLang="ja-JP" sz="1013" dirty="0"/>
              <a:t>3</a:t>
            </a:r>
            <a:r>
              <a:rPr lang="ja-JP" altLang="en-US" sz="1013" dirty="0"/>
              <a:t>選 何にこだわっているのか</a:t>
            </a: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CD38F980-9270-D3D6-FC59-EE4DBA2EE6AA}"/>
              </a:ext>
            </a:extLst>
          </p:cNvPr>
          <p:cNvSpPr txBox="1"/>
          <p:nvPr/>
        </p:nvSpPr>
        <p:spPr>
          <a:xfrm>
            <a:off x="4167961" y="4810725"/>
            <a:ext cx="2659702" cy="71583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013" dirty="0"/>
              <a:t>1. AI chat</a:t>
            </a:r>
            <a:r>
              <a:rPr lang="ja-JP" altLang="en-US" sz="1013" dirty="0"/>
              <a:t>画面</a:t>
            </a:r>
            <a:r>
              <a:rPr lang="en-US" altLang="ja-JP" sz="1013" dirty="0"/>
              <a:t>UI</a:t>
            </a:r>
            <a:br>
              <a:rPr lang="en-US" altLang="ja-JP" sz="1013" dirty="0"/>
            </a:br>
            <a:r>
              <a:rPr lang="ja-JP" altLang="en-US" sz="1013" dirty="0"/>
              <a:t> </a:t>
            </a:r>
            <a:r>
              <a:rPr lang="en-US" altLang="ja-JP" sz="1013" dirty="0"/>
              <a:t>-</a:t>
            </a:r>
            <a:r>
              <a:rPr lang="ja-JP" altLang="en-US" sz="1013" dirty="0"/>
              <a:t> </a:t>
            </a:r>
            <a:r>
              <a:rPr lang="en-US" altLang="ja-JP" sz="1013" dirty="0"/>
              <a:t>AI</a:t>
            </a:r>
            <a:r>
              <a:rPr lang="ja-JP" altLang="en-US" sz="1013" dirty="0"/>
              <a:t>キャラクターと話せる</a:t>
            </a:r>
            <a:endParaRPr lang="en-US" altLang="ja-JP" sz="1013" dirty="0"/>
          </a:p>
          <a:p>
            <a:r>
              <a:rPr lang="en-US" altLang="ja-JP" sz="1013" dirty="0"/>
              <a:t> - </a:t>
            </a:r>
            <a:r>
              <a:rPr lang="ja-JP" altLang="en-US" sz="1013" dirty="0"/>
              <a:t>ログ内容を学習</a:t>
            </a:r>
            <a:endParaRPr lang="en-US" altLang="ja-JP" sz="1013" dirty="0"/>
          </a:p>
          <a:p>
            <a:r>
              <a:rPr lang="en-US" altLang="ja-JP" sz="1013" dirty="0"/>
              <a:t> - </a:t>
            </a:r>
            <a:r>
              <a:rPr lang="ja-JP" altLang="en-US" sz="1013" dirty="0"/>
              <a:t>チャット画面かつ</a:t>
            </a:r>
            <a:r>
              <a:rPr lang="en-US" altLang="ja-JP" sz="1013" dirty="0"/>
              <a:t>RPG</a:t>
            </a:r>
            <a:r>
              <a:rPr lang="ja-JP" altLang="en-US" sz="1013" dirty="0"/>
              <a:t>的画面の新規設計</a:t>
            </a:r>
            <a:endParaRPr lang="en-US" altLang="ja-JP" sz="1013" dirty="0"/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803F5DA6-11DE-8471-0A0A-74F4813ADE93}"/>
              </a:ext>
            </a:extLst>
          </p:cNvPr>
          <p:cNvSpPr txBox="1"/>
          <p:nvPr/>
        </p:nvSpPr>
        <p:spPr>
          <a:xfrm>
            <a:off x="4145101" y="5523194"/>
            <a:ext cx="2521844" cy="71583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013" dirty="0"/>
              <a:t>2. AI</a:t>
            </a:r>
            <a:r>
              <a:rPr lang="ja-JP" altLang="en-US" sz="1013" dirty="0"/>
              <a:t>キャラクター像</a:t>
            </a:r>
            <a:br>
              <a:rPr lang="en-US" altLang="ja-JP" sz="1013" dirty="0"/>
            </a:br>
            <a:r>
              <a:rPr lang="ja-JP" altLang="en-US" sz="1013" dirty="0"/>
              <a:t> </a:t>
            </a:r>
            <a:r>
              <a:rPr lang="en-US" altLang="ja-JP" sz="1013" dirty="0"/>
              <a:t>-</a:t>
            </a:r>
            <a:r>
              <a:rPr lang="ja-JP" altLang="en-US" sz="1013" dirty="0"/>
              <a:t> どんな性格か</a:t>
            </a:r>
            <a:endParaRPr lang="en-US" altLang="ja-JP" sz="1013" dirty="0"/>
          </a:p>
          <a:p>
            <a:r>
              <a:rPr lang="en-US" altLang="ja-JP" sz="1013" dirty="0"/>
              <a:t> - </a:t>
            </a:r>
            <a:r>
              <a:rPr lang="ja-JP" altLang="en-US" sz="1013" dirty="0"/>
              <a:t>どのようなバックグラウンド</a:t>
            </a:r>
            <a:endParaRPr lang="en-US" altLang="ja-JP" sz="1013" dirty="0"/>
          </a:p>
          <a:p>
            <a:r>
              <a:rPr lang="en-US" altLang="ja-JP" sz="1013" dirty="0"/>
              <a:t> - </a:t>
            </a:r>
            <a:r>
              <a:rPr lang="ja-JP" altLang="en-US" sz="1013" dirty="0"/>
              <a:t>どのようにユーザーをアチーブメント</a:t>
            </a:r>
            <a:endParaRPr lang="en-US" altLang="ja-JP" sz="1013" dirty="0"/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AF99C261-D660-99E4-8F24-2C215A424539}"/>
              </a:ext>
            </a:extLst>
          </p:cNvPr>
          <p:cNvSpPr txBox="1"/>
          <p:nvPr/>
        </p:nvSpPr>
        <p:spPr>
          <a:xfrm>
            <a:off x="4145101" y="6206628"/>
            <a:ext cx="2521844" cy="55996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013" dirty="0"/>
              <a:t>3. QR</a:t>
            </a:r>
            <a:r>
              <a:rPr lang="ja-JP" altLang="en-US" sz="1013" dirty="0"/>
              <a:t>コードで表示</a:t>
            </a:r>
            <a:br>
              <a:rPr lang="en-US" altLang="ja-JP" sz="1013" dirty="0"/>
            </a:br>
            <a:r>
              <a:rPr lang="en-US" altLang="ja-JP" sz="1013" dirty="0"/>
              <a:t> - </a:t>
            </a:r>
            <a:r>
              <a:rPr lang="ja-JP" altLang="en-US" sz="1013" dirty="0"/>
              <a:t>どのブラウザが推奨などのアナウンス</a:t>
            </a:r>
            <a:endParaRPr lang="en-US" altLang="ja-JP" sz="1013" dirty="0"/>
          </a:p>
          <a:p>
            <a:r>
              <a:rPr lang="en-US" altLang="ja-JP" sz="1013" dirty="0"/>
              <a:t> - </a:t>
            </a:r>
            <a:r>
              <a:rPr lang="ja-JP" altLang="en-US" sz="1013" dirty="0"/>
              <a:t>どのようにアプリを立ち上げるのか</a:t>
            </a:r>
            <a:endParaRPr lang="en-US" altLang="ja-JP" sz="1013" dirty="0"/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750E7463-7E1C-276C-C6FD-50D952F884F1}"/>
              </a:ext>
            </a:extLst>
          </p:cNvPr>
          <p:cNvSpPr txBox="1"/>
          <p:nvPr/>
        </p:nvSpPr>
        <p:spPr>
          <a:xfrm>
            <a:off x="4612746" y="4041810"/>
            <a:ext cx="508473" cy="2482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013" dirty="0"/>
              <a:t>A4 </a:t>
            </a:r>
            <a:r>
              <a:rPr lang="ja-JP" altLang="en-US" sz="1013" dirty="0"/>
              <a:t>縦</a:t>
            </a:r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EE9A4A34-F44D-E13B-5CFB-84FA8E09A86C}"/>
              </a:ext>
            </a:extLst>
          </p:cNvPr>
          <p:cNvSpPr txBox="1"/>
          <p:nvPr/>
        </p:nvSpPr>
        <p:spPr>
          <a:xfrm>
            <a:off x="4185405" y="3916499"/>
            <a:ext cx="508473" cy="2482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013" dirty="0"/>
              <a:t>A4 </a:t>
            </a:r>
            <a:r>
              <a:rPr lang="ja-JP" altLang="en-US" sz="1013" dirty="0"/>
              <a:t>縦</a:t>
            </a:r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9B924FF7-AAF6-528E-049B-C4909D738B50}"/>
              </a:ext>
            </a:extLst>
          </p:cNvPr>
          <p:cNvSpPr txBox="1"/>
          <p:nvPr/>
        </p:nvSpPr>
        <p:spPr>
          <a:xfrm>
            <a:off x="5053996" y="4156792"/>
            <a:ext cx="508473" cy="2482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013" dirty="0"/>
              <a:t>A4 </a:t>
            </a:r>
            <a:r>
              <a:rPr lang="ja-JP" altLang="en-US" sz="1013" dirty="0"/>
              <a:t>縦</a:t>
            </a:r>
          </a:p>
        </p:txBody>
      </p: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6174F768-53E5-4B5E-2C91-52385AF1D472}"/>
              </a:ext>
            </a:extLst>
          </p:cNvPr>
          <p:cNvSpPr txBox="1"/>
          <p:nvPr/>
        </p:nvSpPr>
        <p:spPr>
          <a:xfrm>
            <a:off x="1870109" y="4022675"/>
            <a:ext cx="508473" cy="2482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013" dirty="0"/>
              <a:t>A3 </a:t>
            </a:r>
            <a:r>
              <a:rPr lang="ja-JP" altLang="en-US" sz="1013" dirty="0"/>
              <a:t>縦</a:t>
            </a:r>
          </a:p>
        </p:txBody>
      </p:sp>
    </p:spTree>
    <p:extLst>
      <p:ext uri="{BB962C8B-B14F-4D97-AF65-F5344CB8AC3E}">
        <p14:creationId xmlns:p14="http://schemas.microsoft.com/office/powerpoint/2010/main" val="34546748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図 3">
            <a:extLst>
              <a:ext uri="{FF2B5EF4-FFF2-40B4-BE49-F238E27FC236}">
                <a16:creationId xmlns:a16="http://schemas.microsoft.com/office/drawing/2014/main" id="{DED63BC1-A64F-3762-58CC-C5AEB7D026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858000" cy="9998242"/>
          </a:xfrm>
          <a:prstGeom prst="rect">
            <a:avLst/>
          </a:prstGeom>
        </p:spPr>
      </p:pic>
      <p:pic>
        <p:nvPicPr>
          <p:cNvPr id="6" name="図 5">
            <a:extLst>
              <a:ext uri="{FF2B5EF4-FFF2-40B4-BE49-F238E27FC236}">
                <a16:creationId xmlns:a16="http://schemas.microsoft.com/office/drawing/2014/main" id="{C09CDA08-BDF2-B277-85E9-7AB60442EE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292" y="210095"/>
            <a:ext cx="5930540" cy="1450263"/>
          </a:xfrm>
          <a:prstGeom prst="rect">
            <a:avLst/>
          </a:prstGeom>
        </p:spPr>
      </p:pic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B83C3BF0-2DEE-DE8F-9376-28406A81ABE9}"/>
              </a:ext>
            </a:extLst>
          </p:cNvPr>
          <p:cNvSpPr txBox="1"/>
          <p:nvPr/>
        </p:nvSpPr>
        <p:spPr>
          <a:xfrm>
            <a:off x="-125820" y="5321468"/>
            <a:ext cx="7109639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ja-JP" altLang="en-US" sz="2000" b="1" dirty="0">
                <a:solidFill>
                  <a:schemeClr val="bg1"/>
                </a:solidFill>
              </a:rPr>
              <a:t>「知識とは情報ではない。知識の唯一の源泉は経験である」</a:t>
            </a:r>
            <a:endParaRPr lang="en-US" altLang="ja-JP" sz="2000" b="1" dirty="0">
              <a:solidFill>
                <a:schemeClr val="bg1"/>
              </a:solidFill>
            </a:endParaRPr>
          </a:p>
          <a:p>
            <a:pPr algn="ctr"/>
            <a:r>
              <a:rPr lang="ja-JP" altLang="en-US" sz="2000" dirty="0">
                <a:solidFill>
                  <a:schemeClr val="bg1"/>
                </a:solidFill>
              </a:rPr>
              <a:t>（アルベルト・アインシュタイン）</a:t>
            </a:r>
          </a:p>
          <a:p>
            <a:pPr algn="ctr"/>
            <a:endParaRPr kumimoji="1" lang="ja-JP" altLang="en-US" sz="2000" dirty="0">
              <a:solidFill>
                <a:schemeClr val="bg1"/>
              </a:solidFill>
            </a:endParaRPr>
          </a:p>
        </p:txBody>
      </p:sp>
      <p:pic>
        <p:nvPicPr>
          <p:cNvPr id="13" name="図 12">
            <a:extLst>
              <a:ext uri="{FF2B5EF4-FFF2-40B4-BE49-F238E27FC236}">
                <a16:creationId xmlns:a16="http://schemas.microsoft.com/office/drawing/2014/main" id="{E9DD9316-E418-BCBE-097D-3DBFE4ED949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41220" y="1660358"/>
            <a:ext cx="2575560" cy="3434080"/>
          </a:xfrm>
          <a:prstGeom prst="rect">
            <a:avLst/>
          </a:prstGeom>
        </p:spPr>
      </p:pic>
      <p:sp>
        <p:nvSpPr>
          <p:cNvPr id="30" name="BG_Panel"/>
          <p:cNvSpPr/>
          <p:nvPr/>
        </p:nvSpPr>
        <p:spPr>
          <a:xfrm>
            <a:off x="254000" y="6477000"/>
            <a:ext cx="6350000" cy="3175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1" name="Divider_Line"/>
          <p:cNvSpPr>
            <a:spLocks noGrp="1"/>
          </p:cNvSpPr>
          <p:nvPr/>
        </p:nvSpPr>
        <p:spPr>
          <a:xfrm>
            <a:off x="254000" y="6451600"/>
            <a:ext cx="6350000" cy="381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2" name="Section_Header"/>
          <p:cNvSpPr txBox="1"/>
          <p:nvPr/>
        </p:nvSpPr>
        <p:spPr>
          <a:xfrm>
            <a:off x="381000" y="6553200"/>
            <a:ext cx="6096000" cy="279400"/>
          </a:xfrm>
          <a:prstGeom prst="rect">
            <a:avLst/>
          </a:prstGeom>
          <a:noFill/>
        </p:spPr>
        <p:txBody>
          <a:bodyPr wrap="square"/>
          <a:lstStyle/>
          <a:p>
            <a:pPr>
              <a:buNone/>
            </a:pPr>
            <a:r>
              <a:rPr lang="en-US" sz="900" b="1" spc="200" dirty="0">
                <a:solidFill>
                  <a:srgbClr val="00D4FF"/>
                </a:solidFill>
                <a:latin typeface="Courier New"/>
              </a:rPr>
              <a:t>// WHY THIS APP EXISTS</a:t>
            </a:r>
          </a:p>
        </p:txBody>
      </p:sp>
      <p:sp>
        <p:nvSpPr>
          <p:cNvPr id="33" name="Card1_BG"/>
          <p:cNvSpPr/>
          <p:nvPr/>
        </p:nvSpPr>
        <p:spPr>
          <a:xfrm>
            <a:off x="317500" y="6883400"/>
            <a:ext cx="3009900" cy="1333500"/>
          </a:xfrm>
          <a:prstGeom prst="rect">
            <a:avLst/>
          </a:prstGeom>
          <a:solidFill>
            <a:srgbClr val="12203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4" name="Card1_Text"/>
          <p:cNvSpPr txBox="1"/>
          <p:nvPr/>
        </p:nvSpPr>
        <p:spPr>
          <a:xfrm>
            <a:off x="406400" y="6959600"/>
            <a:ext cx="2844800" cy="1193800"/>
          </a:xfrm>
          <a:prstGeom prst="rect">
            <a:avLst/>
          </a:prstGeom>
          <a:noFill/>
        </p:spPr>
        <p:txBody>
          <a:bodyPr wrap="square"/>
          <a:lstStyle/>
          <a:p>
            <a:pPr marL="0" indent="0">
              <a:buNone/>
            </a:pPr>
            <a:r>
              <a:rPr lang="ja-JP" sz="850" b="1" dirty="0">
                <a:solidFill>
                  <a:srgbClr val="FFD700"/>
                </a:solidFill>
              </a:rPr>
              <a:t>PROBLEM 01</a:t>
            </a:r>
          </a:p>
          <a:p>
            <a:pPr marL="0" indent="0">
              <a:buNone/>
            </a:pPr>
            <a:r>
              <a:rPr lang="ja-JP" sz="1100" b="1" dirty="0">
                <a:solidFill>
                  <a:srgbClr val="FFFFFF"/>
                </a:solidFill>
              </a:rPr>
              <a:t>精神的疲労</a:t>
            </a:r>
          </a:p>
          <a:p>
            <a:pPr marL="0" indent="0">
              <a:buNone/>
            </a:pPr>
            <a:r>
              <a:rPr lang="ja-JP" sz="800" dirty="0">
                <a:solidFill>
                  <a:srgbClr val="BBCCDD"/>
                </a:solidFill>
              </a:rPr>
              <a:t>散歩もタスク化する功績社会。</a:t>
            </a:r>
          </a:p>
          <a:p>
            <a:pPr marL="0" indent="0">
              <a:buNone/>
            </a:pPr>
            <a:r>
              <a:rPr lang="ja-JP" sz="800" dirty="0">
                <a:solidFill>
                  <a:srgbClr val="BBCCDD"/>
                </a:solidFill>
              </a:rPr>
              <a:t>「無目的な余白」が消えた。</a:t>
            </a:r>
          </a:p>
        </p:txBody>
      </p:sp>
      <p:sp>
        <p:nvSpPr>
          <p:cNvPr id="35" name="Card2_BG"/>
          <p:cNvSpPr/>
          <p:nvPr/>
        </p:nvSpPr>
        <p:spPr>
          <a:xfrm>
            <a:off x="3530600" y="6883400"/>
            <a:ext cx="3009900" cy="1333500"/>
          </a:xfrm>
          <a:prstGeom prst="rect">
            <a:avLst/>
          </a:prstGeom>
          <a:solidFill>
            <a:srgbClr val="12203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6" name="Card2_Text"/>
          <p:cNvSpPr txBox="1"/>
          <p:nvPr/>
        </p:nvSpPr>
        <p:spPr>
          <a:xfrm>
            <a:off x="3619500" y="6959600"/>
            <a:ext cx="2844800" cy="1193800"/>
          </a:xfrm>
          <a:prstGeom prst="rect">
            <a:avLst/>
          </a:prstGeom>
          <a:noFill/>
        </p:spPr>
        <p:txBody>
          <a:bodyPr wrap="square"/>
          <a:lstStyle/>
          <a:p>
            <a:pPr marL="0" indent="0">
              <a:buNone/>
            </a:pPr>
            <a:r>
              <a:rPr lang="ja-JP" sz="850" b="1" dirty="0">
                <a:solidFill>
                  <a:srgbClr val="FFD700"/>
                </a:solidFill>
              </a:rPr>
              <a:t>PROBLEM 02</a:t>
            </a:r>
          </a:p>
          <a:p>
            <a:pPr marL="0" indent="0">
              <a:buNone/>
            </a:pPr>
            <a:r>
              <a:rPr lang="ja-JP" sz="1100" b="1" dirty="0">
                <a:solidFill>
                  <a:srgbClr val="FFFFFF"/>
                </a:solidFill>
              </a:rPr>
              <a:t>偶発性の喪失</a:t>
            </a:r>
          </a:p>
          <a:p>
            <a:pPr marL="0" indent="0">
              <a:buNone/>
            </a:pPr>
            <a:r>
              <a:rPr lang="ja-JP" sz="800" dirty="0">
                <a:solidFill>
                  <a:srgbClr val="BBCCDD"/>
                </a:solidFill>
              </a:rPr>
              <a:t>AIが「未知との出会い」を奪い、</a:t>
            </a:r>
          </a:p>
          <a:p>
            <a:pPr marL="0" indent="0">
              <a:buNone/>
            </a:pPr>
            <a:r>
              <a:rPr lang="ja-JP" sz="800" dirty="0">
                <a:solidFill>
                  <a:srgbClr val="BBCCDD"/>
                </a:solidFill>
              </a:rPr>
              <a:t>社会のイノベーションが停滞。</a:t>
            </a:r>
          </a:p>
        </p:txBody>
      </p:sp>
      <p:sp>
        <p:nvSpPr>
          <p:cNvPr id="37" name="Approach_Label"/>
          <p:cNvSpPr txBox="1"/>
          <p:nvPr/>
        </p:nvSpPr>
        <p:spPr>
          <a:xfrm>
            <a:off x="381000" y="8305800"/>
            <a:ext cx="6096000" cy="279400"/>
          </a:xfrm>
          <a:prstGeom prst="rect">
            <a:avLst/>
          </a:prstGeom>
          <a:noFill/>
        </p:spPr>
        <p:txBody>
          <a:bodyPr wrap="square"/>
          <a:lstStyle/>
          <a:p>
            <a:pPr>
              <a:buNone/>
            </a:pPr>
            <a:r>
              <a:rPr lang="en-US" sz="900" b="1" spc="200" dirty="0">
                <a:solidFill>
                  <a:srgbClr val="00D4FF"/>
                </a:solidFill>
                <a:latin typeface="Courier New"/>
              </a:rPr>
              <a:t>// OUR COUNTER-APPROACH</a:t>
            </a:r>
          </a:p>
        </p:txBody>
      </p:sp>
      <p:sp>
        <p:nvSpPr>
          <p:cNvPr id="38" name="Solution_Text"/>
          <p:cNvSpPr txBox="1"/>
          <p:nvPr/>
        </p:nvSpPr>
        <p:spPr>
          <a:xfrm>
            <a:off x="381000" y="8610600"/>
            <a:ext cx="6096000" cy="1016000"/>
          </a:xfrm>
          <a:prstGeom prst="rect">
            <a:avLst/>
          </a:prstGeom>
          <a:noFill/>
        </p:spPr>
        <p:txBody>
          <a:bodyPr wrap="square"/>
          <a:lstStyle/>
          <a:p>
            <a:pPr marL="0" indent="0">
              <a:buNone/>
            </a:pPr>
            <a:r>
              <a:rPr lang="ja-JP" sz="950" b="1" dirty="0">
                <a:solidFill>
                  <a:srgbClr val="00D4FF"/>
                </a:solidFill>
              </a:rPr>
              <a:t>「成長のため」という名の自己搾取、やめませんか。</a:t>
            </a:r>
          </a:p>
          <a:p>
            <a:pPr marL="0" indent="0">
              <a:buNone/>
            </a:pPr>
            <a:r>
              <a:rPr lang="ja-JP" sz="950" b="1" dirty="0">
                <a:solidFill>
                  <a:srgbClr val="FFD700"/>
                </a:solidFill>
              </a:rPr>
              <a:t>散歩すらタスクになった時代の、反逆ツール。</a:t>
            </a:r>
          </a:p>
          <a:p>
            <a:pPr marL="0" indent="0">
              <a:buNone/>
            </a:pPr>
            <a:r>
              <a:rPr lang="ja-JP" sz="950" b="1" dirty="0">
                <a:solidFill>
                  <a:srgbClr val="00D4FF"/>
                </a:solidFill>
              </a:rPr>
              <a:t>AIに「無駄なこと」を命令される、唯一のアプリ。</a:t>
            </a:r>
          </a:p>
          <a:p>
            <a:pPr marL="0" indent="0">
              <a:buNone/>
            </a:pPr>
            <a:r>
              <a:rPr lang="ja-JP" sz="950" b="1" dirty="0">
                <a:solidFill>
                  <a:srgbClr val="FFD700"/>
                </a:solidFill>
              </a:rPr>
              <a:t>最適化から逃げ込む「無目的性のシェルター」。</a:t>
            </a:r>
          </a:p>
          <a:p>
            <a:pPr marL="0" indent="0">
              <a:buNone/>
            </a:pPr>
            <a:r>
              <a:rPr lang="ja-JP" sz="950" b="1" dirty="0">
                <a:solidFill>
                  <a:srgbClr val="00D4FF"/>
                </a:solidFill>
              </a:rPr>
              <a:t>画面の中の予定調和から、物理世界へ引きずり出す。</a:t>
            </a:r>
          </a:p>
          <a:p>
            <a:pPr marL="0" indent="0">
              <a:buNone/>
            </a:pPr>
            <a:r>
              <a:rPr lang="ja-JP" sz="950" b="1" dirty="0">
                <a:solidFill>
                  <a:srgbClr val="FFD700"/>
                </a:solidFill>
              </a:rPr>
              <a:t>これは「ゲーム」ではなく、現代社会の病理へのカウンター。</a:t>
            </a:r>
          </a:p>
        </p:txBody>
      </p:sp>
    </p:spTree>
    <p:extLst>
      <p:ext uri="{BB962C8B-B14F-4D97-AF65-F5344CB8AC3E}">
        <p14:creationId xmlns:p14="http://schemas.microsoft.com/office/powerpoint/2010/main" val="17205596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図 5">
            <a:extLst>
              <a:ext uri="{FF2B5EF4-FFF2-40B4-BE49-F238E27FC236}">
                <a16:creationId xmlns:a16="http://schemas.microsoft.com/office/drawing/2014/main" id="{F81F4CD7-CAD2-D2CA-0418-AD0B66F1DE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858000" cy="9998242"/>
          </a:xfrm>
          <a:prstGeom prst="rect">
            <a:avLst/>
          </a:prstGeom>
        </p:spPr>
      </p:pic>
      <p:pic>
        <p:nvPicPr>
          <p:cNvPr id="5" name="図 4">
            <a:extLst>
              <a:ext uri="{FF2B5EF4-FFF2-40B4-BE49-F238E27FC236}">
                <a16:creationId xmlns:a16="http://schemas.microsoft.com/office/drawing/2014/main" id="{A2E82D59-07DB-AE94-E29E-4A5C0BB890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729" y="8506327"/>
            <a:ext cx="4262555" cy="1315044"/>
          </a:xfrm>
          <a:prstGeom prst="rect">
            <a:avLst/>
          </a:prstGeom>
        </p:spPr>
      </p:pic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40982D12-BABB-1E75-E50F-3E5FCABC30C2}"/>
              </a:ext>
            </a:extLst>
          </p:cNvPr>
          <p:cNvSpPr txBox="1"/>
          <p:nvPr/>
        </p:nvSpPr>
        <p:spPr>
          <a:xfrm>
            <a:off x="300789" y="467230"/>
            <a:ext cx="3443571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600" dirty="0">
                <a:solidFill>
                  <a:schemeClr val="bg1"/>
                </a:solidFill>
              </a:rPr>
              <a:t>AI </a:t>
            </a:r>
            <a:r>
              <a:rPr kumimoji="1" lang="ja-JP" altLang="en-US" sz="3600" dirty="0">
                <a:solidFill>
                  <a:schemeClr val="bg1"/>
                </a:solidFill>
              </a:rPr>
              <a:t>キャラクター</a:t>
            </a:r>
            <a:endParaRPr kumimoji="1" lang="en-US" altLang="ja-JP" sz="3600" dirty="0">
              <a:solidFill>
                <a:schemeClr val="bg1"/>
              </a:solidFill>
            </a:endParaRPr>
          </a:p>
          <a:p>
            <a:r>
              <a:rPr kumimoji="1" lang="ja-JP" altLang="en-US" sz="3600" dirty="0">
                <a:solidFill>
                  <a:schemeClr val="bg1"/>
                </a:solidFill>
              </a:rPr>
              <a:t>「クロノ」</a:t>
            </a:r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0B54F5CC-F353-7772-CE16-0828C4E5BF19}"/>
              </a:ext>
            </a:extLst>
          </p:cNvPr>
          <p:cNvSpPr/>
          <p:nvPr/>
        </p:nvSpPr>
        <p:spPr>
          <a:xfrm>
            <a:off x="3238675" y="1249278"/>
            <a:ext cx="3318536" cy="485073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UI</a:t>
            </a:r>
            <a:r>
              <a:rPr kumimoji="1" lang="ja-JP" altLang="en-US" dirty="0"/>
              <a:t> 画面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077E23E3-9450-9D11-FBAE-DAB3DB58C347}"/>
              </a:ext>
            </a:extLst>
          </p:cNvPr>
          <p:cNvSpPr txBox="1"/>
          <p:nvPr/>
        </p:nvSpPr>
        <p:spPr>
          <a:xfrm>
            <a:off x="300789" y="6294799"/>
            <a:ext cx="6051121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kumimoji="1" lang="ja-JP" altLang="en-US" dirty="0">
                <a:solidFill>
                  <a:schemeClr val="bg1"/>
                </a:solidFill>
              </a:rPr>
              <a:t>あなただけのパーソナル</a:t>
            </a:r>
            <a:r>
              <a:rPr kumimoji="1" lang="en-US" altLang="ja-JP" dirty="0">
                <a:solidFill>
                  <a:schemeClr val="bg1"/>
                </a:solidFill>
              </a:rPr>
              <a:t>AI</a:t>
            </a:r>
            <a:r>
              <a:rPr kumimoji="1" lang="ja-JP" altLang="en-US" dirty="0">
                <a:solidFill>
                  <a:schemeClr val="bg1"/>
                </a:solidFill>
              </a:rPr>
              <a:t>エージェント</a:t>
            </a:r>
            <a:endParaRPr kumimoji="1" lang="en-US" altLang="ja-JP" dirty="0">
              <a:solidFill>
                <a:schemeClr val="bg1"/>
              </a:solidFill>
            </a:endParaRPr>
          </a:p>
          <a:p>
            <a:pPr marL="342900" indent="-342900">
              <a:buAutoNum type="arabicPeriod"/>
            </a:pPr>
            <a:endParaRPr kumimoji="1" lang="en-US" altLang="ja-JP" dirty="0">
              <a:solidFill>
                <a:schemeClr val="bg1"/>
              </a:solidFill>
            </a:endParaRPr>
          </a:p>
          <a:p>
            <a:pPr marL="342900" indent="-342900">
              <a:buAutoNum type="arabicPeriod"/>
            </a:pPr>
            <a:r>
              <a:rPr kumimoji="1" lang="ja-JP" altLang="en-US" dirty="0">
                <a:solidFill>
                  <a:schemeClr val="bg1"/>
                </a:solidFill>
              </a:rPr>
              <a:t>自分を見つけられない人のために、「</a:t>
            </a:r>
            <a:r>
              <a:rPr kumimoji="1" lang="en-US" altLang="ja-JP" dirty="0">
                <a:solidFill>
                  <a:schemeClr val="bg1"/>
                </a:solidFill>
              </a:rPr>
              <a:t>SUB MISSION</a:t>
            </a:r>
            <a:r>
              <a:rPr kumimoji="1" lang="ja-JP" altLang="en-US" dirty="0">
                <a:solidFill>
                  <a:schemeClr val="bg1"/>
                </a:solidFill>
              </a:rPr>
              <a:t>」を世界に布教中</a:t>
            </a:r>
            <a:endParaRPr kumimoji="1" lang="en-US" altLang="ja-JP" dirty="0">
              <a:solidFill>
                <a:schemeClr val="bg1"/>
              </a:solidFill>
            </a:endParaRPr>
          </a:p>
          <a:p>
            <a:pPr marL="342900" indent="-342900">
              <a:buAutoNum type="arabicPeriod"/>
            </a:pPr>
            <a:endParaRPr kumimoji="1" lang="en-US" altLang="ja-JP" dirty="0">
              <a:solidFill>
                <a:schemeClr val="bg1"/>
              </a:solidFill>
            </a:endParaRPr>
          </a:p>
          <a:p>
            <a:pPr marL="342900" indent="-342900">
              <a:buAutoNum type="arabicPeriod"/>
            </a:pPr>
            <a:r>
              <a:rPr kumimoji="1" lang="ja-JP" altLang="en-US" dirty="0">
                <a:solidFill>
                  <a:schemeClr val="bg1"/>
                </a:solidFill>
              </a:rPr>
              <a:t>亡者ながらも、この世界を愛する酔狂者</a:t>
            </a:r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8E5688D7-D7F1-3FDB-04BE-BED100995949}"/>
              </a:ext>
            </a:extLst>
          </p:cNvPr>
          <p:cNvSpPr/>
          <p:nvPr/>
        </p:nvSpPr>
        <p:spPr>
          <a:xfrm>
            <a:off x="300789" y="3380874"/>
            <a:ext cx="2502569" cy="271913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キャラクター</a:t>
            </a:r>
          </a:p>
        </p:txBody>
      </p:sp>
    </p:spTree>
    <p:extLst>
      <p:ext uri="{BB962C8B-B14F-4D97-AF65-F5344CB8AC3E}">
        <p14:creationId xmlns:p14="http://schemas.microsoft.com/office/powerpoint/2010/main" val="16833426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図 8">
            <a:extLst>
              <a:ext uri="{FF2B5EF4-FFF2-40B4-BE49-F238E27FC236}">
                <a16:creationId xmlns:a16="http://schemas.microsoft.com/office/drawing/2014/main" id="{B2600AC7-D18D-7F71-93EA-8E145E44AB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858000" cy="9906000"/>
          </a:xfrm>
          <a:prstGeom prst="rect">
            <a:avLst/>
          </a:prstGeom>
        </p:spPr>
      </p:pic>
      <p:pic>
        <p:nvPicPr>
          <p:cNvPr id="7" name="図 6">
            <a:extLst>
              <a:ext uri="{FF2B5EF4-FFF2-40B4-BE49-F238E27FC236}">
                <a16:creationId xmlns:a16="http://schemas.microsoft.com/office/drawing/2014/main" id="{035AC930-2876-E2C4-5E57-D5D7AD2A42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533" y="8519160"/>
            <a:ext cx="4109740" cy="1267898"/>
          </a:xfrm>
          <a:prstGeom prst="rect">
            <a:avLst/>
          </a:prstGeom>
        </p:spPr>
      </p:pic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B1CC6928-6D09-CADA-C1FA-FA8EF76ECE60}"/>
              </a:ext>
            </a:extLst>
          </p:cNvPr>
          <p:cNvSpPr/>
          <p:nvPr/>
        </p:nvSpPr>
        <p:spPr>
          <a:xfrm>
            <a:off x="3429000" y="300789"/>
            <a:ext cx="3140242" cy="465221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UI</a:t>
            </a:r>
            <a:r>
              <a:rPr kumimoji="1" lang="ja-JP" altLang="en-US" dirty="0"/>
              <a:t> 画面</a:t>
            </a: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D68D9ACB-1FFD-ACD0-BBDF-D119E4A35F63}"/>
              </a:ext>
            </a:extLst>
          </p:cNvPr>
          <p:cNvSpPr txBox="1"/>
          <p:nvPr/>
        </p:nvSpPr>
        <p:spPr>
          <a:xfrm>
            <a:off x="300789" y="467230"/>
            <a:ext cx="205107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600" dirty="0">
                <a:solidFill>
                  <a:schemeClr val="bg1"/>
                </a:solidFill>
              </a:rPr>
              <a:t>AI Chat UI</a:t>
            </a:r>
            <a:endParaRPr kumimoji="1" lang="ja-JP" altLang="en-US" sz="3600" dirty="0">
              <a:solidFill>
                <a:schemeClr val="bg1"/>
              </a:solidFill>
            </a:endParaRP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E49A78FE-0C6E-1C4C-E3B7-0FD8DBBE289D}"/>
              </a:ext>
            </a:extLst>
          </p:cNvPr>
          <p:cNvSpPr txBox="1"/>
          <p:nvPr/>
        </p:nvSpPr>
        <p:spPr>
          <a:xfrm>
            <a:off x="300789" y="6177364"/>
            <a:ext cx="6051121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kumimoji="1" lang="en-US" altLang="ja-JP" dirty="0">
                <a:solidFill>
                  <a:schemeClr val="bg1"/>
                </a:solidFill>
              </a:rPr>
              <a:t>AI</a:t>
            </a:r>
            <a:r>
              <a:rPr kumimoji="1" lang="ja-JP" altLang="en-US" dirty="0">
                <a:solidFill>
                  <a:schemeClr val="bg1"/>
                </a:solidFill>
              </a:rPr>
              <a:t>キャラクターと自由に話せる</a:t>
            </a:r>
            <a:endParaRPr kumimoji="1" lang="en-US" altLang="ja-JP" dirty="0">
              <a:solidFill>
                <a:schemeClr val="bg1"/>
              </a:solidFill>
            </a:endParaRPr>
          </a:p>
          <a:p>
            <a:pPr marL="342900" indent="-342900">
              <a:buAutoNum type="arabicPeriod"/>
            </a:pPr>
            <a:endParaRPr kumimoji="1" lang="en-US" altLang="ja-JP" dirty="0">
              <a:solidFill>
                <a:schemeClr val="bg1"/>
              </a:solidFill>
            </a:endParaRPr>
          </a:p>
          <a:p>
            <a:pPr marL="342900" indent="-342900">
              <a:buAutoNum type="arabicPeriod"/>
            </a:pPr>
            <a:r>
              <a:rPr kumimoji="1" lang="ja-JP" altLang="en-US" dirty="0">
                <a:solidFill>
                  <a:schemeClr val="bg1"/>
                </a:solidFill>
              </a:rPr>
              <a:t>キャラはあなたとの会話を覚える</a:t>
            </a:r>
            <a:endParaRPr kumimoji="1" lang="en-US" altLang="ja-JP" dirty="0">
              <a:solidFill>
                <a:schemeClr val="bg1"/>
              </a:solidFill>
            </a:endParaRPr>
          </a:p>
          <a:p>
            <a:pPr marL="342900" indent="-342900">
              <a:buAutoNum type="arabicPeriod"/>
            </a:pPr>
            <a:endParaRPr kumimoji="1" lang="en-US" altLang="ja-JP" dirty="0">
              <a:solidFill>
                <a:schemeClr val="bg1"/>
              </a:solidFill>
            </a:endParaRPr>
          </a:p>
          <a:p>
            <a:pPr marL="342900" indent="-342900">
              <a:buAutoNum type="arabicPeriod"/>
            </a:pPr>
            <a:r>
              <a:rPr kumimoji="1" lang="en-US" altLang="ja-JP" dirty="0">
                <a:solidFill>
                  <a:schemeClr val="bg1"/>
                </a:solidFill>
              </a:rPr>
              <a:t>RPG</a:t>
            </a:r>
            <a:r>
              <a:rPr kumimoji="1" lang="ja-JP" altLang="en-US" dirty="0">
                <a:solidFill>
                  <a:schemeClr val="bg1"/>
                </a:solidFill>
              </a:rPr>
              <a:t>画面のような</a:t>
            </a:r>
            <a:r>
              <a:rPr kumimoji="1" lang="en-US" altLang="ja-JP" dirty="0">
                <a:solidFill>
                  <a:schemeClr val="bg1"/>
                </a:solidFill>
              </a:rPr>
              <a:t>UI</a:t>
            </a:r>
            <a:r>
              <a:rPr kumimoji="1" lang="ja-JP" altLang="en-US" dirty="0">
                <a:solidFill>
                  <a:schemeClr val="bg1"/>
                </a:solidFill>
              </a:rPr>
              <a:t>デザインとチャットログのような操作感の両立を実現</a:t>
            </a:r>
          </a:p>
        </p:txBody>
      </p:sp>
    </p:spTree>
    <p:extLst>
      <p:ext uri="{BB962C8B-B14F-4D97-AF65-F5344CB8AC3E}">
        <p14:creationId xmlns:p14="http://schemas.microsoft.com/office/powerpoint/2010/main" val="28292111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図 5">
            <a:extLst>
              <a:ext uri="{FF2B5EF4-FFF2-40B4-BE49-F238E27FC236}">
                <a16:creationId xmlns:a16="http://schemas.microsoft.com/office/drawing/2014/main" id="{BC4ABB9A-F927-35D3-39C4-0FE44F7400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858000" cy="9906000"/>
          </a:xfrm>
          <a:prstGeom prst="rect">
            <a:avLst/>
          </a:prstGeom>
        </p:spPr>
      </p:pic>
      <p:pic>
        <p:nvPicPr>
          <p:cNvPr id="5" name="図 4">
            <a:extLst>
              <a:ext uri="{FF2B5EF4-FFF2-40B4-BE49-F238E27FC236}">
                <a16:creationId xmlns:a16="http://schemas.microsoft.com/office/drawing/2014/main" id="{AB83F362-9375-3B68-A4E1-8E8C76E450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257" y="8495457"/>
            <a:ext cx="4138889" cy="1276891"/>
          </a:xfrm>
          <a:prstGeom prst="rect">
            <a:avLst/>
          </a:prstGeom>
        </p:spPr>
      </p:pic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B556699E-2C4B-4CEC-0650-8F1496D7A8E6}"/>
              </a:ext>
            </a:extLst>
          </p:cNvPr>
          <p:cNvSpPr txBox="1"/>
          <p:nvPr/>
        </p:nvSpPr>
        <p:spPr>
          <a:xfrm>
            <a:off x="232111" y="6077897"/>
            <a:ext cx="704391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AutoNum type="arabicPeriod"/>
            </a:pPr>
            <a:r>
              <a:rPr kumimoji="1" lang="ja-JP" altLang="en-US" dirty="0">
                <a:solidFill>
                  <a:schemeClr val="bg1"/>
                </a:solidFill>
              </a:rPr>
              <a:t>表示されている</a:t>
            </a:r>
            <a:r>
              <a:rPr kumimoji="1" lang="en-US" altLang="ja-JP" dirty="0">
                <a:solidFill>
                  <a:schemeClr val="bg1"/>
                </a:solidFill>
              </a:rPr>
              <a:t>QR</a:t>
            </a:r>
            <a:r>
              <a:rPr kumimoji="1" lang="ja-JP" altLang="en-US" dirty="0">
                <a:solidFill>
                  <a:schemeClr val="bg1"/>
                </a:solidFill>
              </a:rPr>
              <a:t>コードをスマートフォンのカメラで読み取る</a:t>
            </a:r>
            <a:endParaRPr kumimoji="1" lang="en-US" altLang="ja-JP" dirty="0">
              <a:solidFill>
                <a:schemeClr val="bg1"/>
              </a:solidFill>
            </a:endParaRPr>
          </a:p>
          <a:p>
            <a:pPr marL="342900" indent="-342900">
              <a:buAutoNum type="arabicPeriod"/>
            </a:pPr>
            <a:r>
              <a:rPr kumimoji="1" lang="ja-JP" altLang="en-US" dirty="0">
                <a:solidFill>
                  <a:schemeClr val="bg1"/>
                </a:solidFill>
              </a:rPr>
              <a:t>ブラウザが開いたら、そのままアプリをお試しいただけます</a:t>
            </a:r>
          </a:p>
        </p:txBody>
      </p:sp>
      <p:pic>
        <p:nvPicPr>
          <p:cNvPr id="11" name="図 10">
            <a:extLst>
              <a:ext uri="{FF2B5EF4-FFF2-40B4-BE49-F238E27FC236}">
                <a16:creationId xmlns:a16="http://schemas.microsoft.com/office/drawing/2014/main" id="{C9F1E2D7-7B6D-CC9D-DE54-CA9683BBDFD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5569" y="2106138"/>
            <a:ext cx="2846862" cy="2846862"/>
          </a:xfrm>
          <a:prstGeom prst="rect">
            <a:avLst/>
          </a:prstGeom>
        </p:spPr>
      </p:pic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93B313C1-D325-867B-17C0-AF4113708D95}"/>
              </a:ext>
            </a:extLst>
          </p:cNvPr>
          <p:cNvSpPr txBox="1"/>
          <p:nvPr/>
        </p:nvSpPr>
        <p:spPr>
          <a:xfrm>
            <a:off x="1311442" y="5469282"/>
            <a:ext cx="39805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>
                <a:solidFill>
                  <a:schemeClr val="bg1"/>
                </a:solidFill>
              </a:rPr>
              <a:t>「</a:t>
            </a:r>
            <a:r>
              <a:rPr kumimoji="1" lang="en-US" altLang="ja-JP" dirty="0">
                <a:solidFill>
                  <a:schemeClr val="bg1"/>
                </a:solidFill>
              </a:rPr>
              <a:t>SUB MISSION</a:t>
            </a:r>
            <a:r>
              <a:rPr kumimoji="1" lang="ja-JP" altLang="en-US" dirty="0">
                <a:solidFill>
                  <a:schemeClr val="bg1"/>
                </a:solidFill>
              </a:rPr>
              <a:t>」アプリを試してみる</a:t>
            </a:r>
          </a:p>
        </p:txBody>
      </p:sp>
    </p:spTree>
    <p:extLst>
      <p:ext uri="{BB962C8B-B14F-4D97-AF65-F5344CB8AC3E}">
        <p14:creationId xmlns:p14="http://schemas.microsoft.com/office/powerpoint/2010/main" val="36278352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 テーマ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テーマ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1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01C73939-07EC-4E42-9973-36E621677718}">
  <we:reference id="wa200010001" version="1.0.0.1" store="en-US" storeType="OMEX"/>
  <we:alternateReferences>
    <we:reference id="wa200010001" version="1.0.0.1" store="en-US" storeType="OMEX"/>
  </we:alternateReferences>
  <we:properties>
    <we:property name="claude.fileId" value="&quot;c980016b-8441-40a1-93ce-50e36700716b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128453</TotalTime>
  <Words>355</Words>
  <Application>Microsoft Office PowerPoint</Application>
  <PresentationFormat>A4 210 x 297 mm</PresentationFormat>
  <Paragraphs>51</Paragraphs>
  <Slides>5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5</vt:i4>
      </vt:variant>
    </vt:vector>
  </HeadingPairs>
  <TitlesOfParts>
    <vt:vector size="10" baseType="lpstr">
      <vt:lpstr>Arial</vt:lpstr>
      <vt:lpstr>Calibri</vt:lpstr>
      <vt:lpstr>Calibri Light</vt:lpstr>
      <vt:lpstr>Courier New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悠介 添田</dc:creator>
  <cp:lastModifiedBy>悠介 添田</cp:lastModifiedBy>
  <cp:revision>3</cp:revision>
  <dcterms:created xsi:type="dcterms:W3CDTF">2026-05-09T18:55:01Z</dcterms:created>
  <dcterms:modified xsi:type="dcterms:W3CDTF">2026-05-09T23:38:46Z</dcterms:modified>
</cp:coreProperties>
</file>